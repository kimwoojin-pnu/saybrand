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4114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BBDD"/>
                </a:solidFill>
              </a:rPr>
              <a:t>기말 프로젝트 발표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</a:rPr>
              <a:t>SAYbrand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AABBDD"/>
                </a:solidFill>
              </a:rPr>
              <a:t>AI 기반 브랜드 위협 모니터링 시스템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00400"/>
            <a:ext cx="10058400" cy="4572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10058400" cy="59436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930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학교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4930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14800"/>
            <a:ext cx="10058400" cy="59436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1788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학과 / 과목명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1788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00600"/>
            <a:ext cx="10058400" cy="59436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8646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팀원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86460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577"/>
                </a:solidFill>
              </a:rPr>
              <a:t>2026-06-21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41248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841248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1042416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896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프로젝트 개요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261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무엇을 만들었나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645920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1645920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" y="184708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1700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문제 정의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0665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왜 만들었나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50592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50592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" y="2651760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5054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기술 스택 &amp; 개발 환경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8712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사용한 도구와 언어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255264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255264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" y="3456432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310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시스템 아키텍처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758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전체 설계 구조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59936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059936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426110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① — 3계층 AI 파이프라인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L1·L2·L3 단계별 구현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864608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4864608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0624" y="5065776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919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② — 리스크 스코어링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52852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위협 점수 산출 엔진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5669280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5669280"/>
            <a:ext cx="457200" cy="74980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0624" y="587044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241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③ — 데이터 수집기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608990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5개 플랫폼 자동 수집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841248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9360" y="841248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64224" y="1042416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8961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④ — 카드뉴스 파이프라인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126187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위협 → 유튜브 쇼츠 자동 생성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09360" y="1645920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309360" y="1645920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64224" y="184708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1700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⑤ — 보고서 시스템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2066544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PDF·PPT 자동 생성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09360" y="2450592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09360" y="2450592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64224" y="2651760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0" y="250545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구현 ⑥ — 조직 관리 &amp;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2871216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RBAC·OAuth·결제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09360" y="3255264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309360" y="3255264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64224" y="3456432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0" y="33101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완성된 기능 목록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3675888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구현 현황 총정리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09360" y="4059936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309360" y="4059936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64224" y="4261104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41148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기술적 도전과 해결책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개발 중 마주한 문제들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09360" y="4864608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309360" y="4864608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64224" y="5065776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0" y="49194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테스트 결과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5285232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93 tests passed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309360" y="5669280"/>
            <a:ext cx="5650992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09360" y="5669280"/>
            <a:ext cx="457200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64224" y="5870448"/>
            <a:ext cx="4023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0" y="57241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C1428"/>
                </a:solidFill>
              </a:rPr>
              <a:t>결론 · 배운 점 · 개선 방향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01  프로젝트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무엇을 만들었나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11457432" cy="100584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93268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SAYbrand는 공개 SNS 데이터를 AI로 실시간 분석하여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44168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브랜드를 위협하는 사칭·가짜뉴스·조직적 봇 공격을 자동으로 탐지·대응하는 B2B SaaS입니다.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11680"/>
            <a:ext cx="214884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011680"/>
            <a:ext cx="2148840" cy="4572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수집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57860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Naver·YouTube·X
5개 플랫폼 자동 수집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011680"/>
            <a:ext cx="214884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51760" y="2011680"/>
            <a:ext cx="21488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61488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61488" y="257860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3계층 AI 파이프라인
L1→L2→L3 순차 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37760" y="2011680"/>
            <a:ext cx="214884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011680"/>
            <a:ext cx="2148840" cy="457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대응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57860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위협 등급별 즉각 알림
AI 대응 문구 자동 생성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23760" y="2011680"/>
            <a:ext cx="214884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23760" y="2011680"/>
            <a:ext cx="214884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33488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57860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일간·주간·월간
PDF·PPT 자동 생성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0" y="2011680"/>
            <a:ext cx="214884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09760" y="2011680"/>
            <a:ext cx="214884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9488" y="2057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콘텐츠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578608"/>
            <a:ext cx="1920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위협 데이터 →
유튜브 쇼츠 자동 생성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754880"/>
            <a:ext cx="11457432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8188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1428"/>
                </a:solidFill>
              </a:rPr>
              <a:t>개발 기간:  2026년 상반기   |   배포:  Vercel (API + Frontend)  +  Railway (Celery Worker)   |   버전:  v0.3.1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5257800"/>
            <a:ext cx="2148840" cy="12984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534924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6EF8"/>
                </a:solidFill>
              </a:rPr>
              <a:t>5개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" y="5989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수집 플랫폼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51760" y="5257800"/>
            <a:ext cx="2148840" cy="12984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61488" y="534924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6EF8"/>
                </a:solidFill>
              </a:rPr>
              <a:t>3계층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61488" y="5989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AI 파이프라인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937760" y="5257800"/>
            <a:ext cx="2148840" cy="12984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47488" y="534924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6EF8"/>
                </a:solidFill>
              </a:rPr>
              <a:t>900+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7488" y="5989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L1 키워드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23760" y="5257800"/>
            <a:ext cx="2148840" cy="12984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33488" y="534924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6EF8"/>
                </a:solidFill>
              </a:rPr>
              <a:t>93개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488" y="5989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테스트 통과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509760" y="5257800"/>
            <a:ext cx="2148840" cy="12984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19488" y="5349240"/>
            <a:ext cx="1920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6EF8"/>
                </a:solidFill>
              </a:rPr>
              <a:t>26장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19488" y="59893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발표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02  문제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왜 이 시스템을 만들었나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868680"/>
            <a:ext cx="2816352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868680"/>
            <a:ext cx="2816352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868680"/>
            <a:ext cx="73152" cy="3840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024128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428"/>
                </a:solidFill>
              </a:rPr>
              <a:t>브랜드 사칭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72768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공식 계정을 흉내 낸 가짜 계정이
소비자를 기만하고 신뢰를 훼손합니다.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868680"/>
            <a:ext cx="2816352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19272" y="868680"/>
            <a:ext cx="2816352" cy="731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19272" y="868680"/>
            <a:ext cx="73152" cy="384048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02152" y="1024128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428"/>
                </a:solidFill>
              </a:rPr>
              <a:t>가짜뉴스 · 루머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1572768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사실 무근의 악성 루머가 SNS를 타고
수십만 명에게 순식간에 확산됩니다.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4" y="868680"/>
            <a:ext cx="2816352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72784" y="868680"/>
            <a:ext cx="2816352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2784" y="868680"/>
            <a:ext cx="73152" cy="3840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1024128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428"/>
                </a:solidFill>
              </a:rPr>
              <a:t>조직적 봇 공격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1572768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경쟁사 또는 악의적 세력이 봇 계정으로
집단적 부정 댓글·리뷰 공격을 합니다.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26296" y="868680"/>
            <a:ext cx="2816352" cy="38404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26296" y="868680"/>
            <a:ext cx="2816352" cy="7315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26296" y="868680"/>
            <a:ext cx="73152" cy="384048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9176" y="1024128"/>
            <a:ext cx="254203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C1428"/>
                </a:solidFill>
              </a:rPr>
              <a:t>임직원 리스크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09176" y="1572768"/>
            <a:ext cx="254203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임원·직원의 개인 SNS 발언이
기업 이미지에 치명타를 입힙니다.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892040"/>
            <a:ext cx="11457432" cy="54864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50749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C1428"/>
                </a:solidFill>
              </a:rPr>
              <a:t>핵심 문제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074920"/>
            <a:ext cx="1145743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444"/>
                </a:solidFill>
              </a:rPr>
              <a:t>SNS 데이터는 너무 방대하고 빠르게 생성되어 사람이 24시간 수동으로 모니터링하는 것은 불가능합니다.
또한 봇 공격인지 실제 소비자 불만인지 구분하지 못하면 불필요한 법적 대응으로 비용이 낭비됩니다.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03  기술 스택 &amp; 개발 환경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868680"/>
            <a:ext cx="3749039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905256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백엔드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252728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2984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언어 · 프레임워크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62763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Python 3.11+  /  FastAPI 0.115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276856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225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ORM ·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6517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SQLAlchemy 2.0 async  /  SQLite(로컬) · PostgreSQL(운영)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00984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467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비동기 워커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675888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Celery 5.4  +  Redis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325112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4370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700016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Google OAuth 2.0  (Authlib)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94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결제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724144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Polar  +  Svix 웹훅 서명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868680"/>
            <a:ext cx="3749039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07408" y="905256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AI · 분석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1252728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07408" y="12984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L1 — 규칙 필터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07408" y="162763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자체 키워드 DB (900개+, 18개 카테고리)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2276856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07408" y="23225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L2 — 텍스트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07408" y="26517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Gemini 2.5 Flash Lite  (google-genai ≥ 1.0)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300984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8" y="33467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L3 — 심층 분석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7408" y="3675888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Claude Haiku 4.5  (anthropic SDK)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97680" y="4325112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07408" y="4370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감성 폴백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07408" y="4700016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KNU 한국어 감성 사전 (14,854 단어)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97680" y="5349240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07408" y="5394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이미지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5724144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imagehash  (pHash)  /  Google Vision API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868680"/>
            <a:ext cx="3749039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39327" y="905256"/>
            <a:ext cx="35295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프론트엔드 · 인프라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1252728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39327" y="129844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CSS · JS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1627632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Tailwind CSS CDN  +  Vanilla JS  (빌드 없음)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2276856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2322576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폰트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2651760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Syne  /  Noto Sans KR  /  JetBrains Mono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300984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39327" y="3346704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PWA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39327" y="3675888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manifest.json  +  Service Worker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29600" y="4325112"/>
            <a:ext cx="3749039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7" y="4370832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배포 — API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39327" y="4700016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Vercel  (진입점: app.py)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5349240"/>
            <a:ext cx="3749039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39327" y="539496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배포 — 워커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9327" y="5724144"/>
            <a:ext cx="35204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Railway  (Celery -B worker)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04  시스템 아키텍처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전체 데이터 흐름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68680"/>
            <a:ext cx="1783080" cy="141732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SNS
플랫폼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YouTube
Naver · 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39696" y="14173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42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868680"/>
            <a:ext cx="1783080" cy="141732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수집기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Celery Beat
30분 주기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78224" y="14173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428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24528" y="868680"/>
            <a:ext cx="1783080" cy="14173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15968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L1 필터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15968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규칙 기반
$0 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14173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42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868680"/>
            <a:ext cx="1783080" cy="141732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54496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L2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54496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Gemini
Flash 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14173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42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01584" y="868680"/>
            <a:ext cx="1783080" cy="14173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93024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L3 심층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93024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Claude
Haiku 4.5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141732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C1428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40112" y="868680"/>
            <a:ext cx="1783080" cy="1417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31552" y="932688"/>
            <a:ext cx="1600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DB 저장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1552" y="1463040"/>
            <a:ext cx="1600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PostgreSQL
/ SQLite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2423160"/>
            <a:ext cx="11494008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6EF8"/>
                </a:solidFill>
              </a:rPr>
              <a:t>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8"/>
                </a:solidFill>
              </a:rPr>
              <a:t>대시보드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6EF8"/>
                </a:solidFill>
              </a:rPr>
              <a:t>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8"/>
                </a:solidFill>
              </a:rPr>
              <a:t>Slack / 이메일 알림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6EF8"/>
                </a:solidFill>
              </a:rPr>
              <a:t>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8"/>
                </a:solidFill>
              </a:rPr>
              <a:t>PDF · PPT 보고서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24160" y="248716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1A6EF8"/>
                </a:solidFill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28346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C1428"/>
                </a:solidFill>
              </a:rPr>
              <a:t>카드뉴스 쇼츠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3337560"/>
            <a:ext cx="5029200" cy="2542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7472" y="3337560"/>
            <a:ext cx="5029200" cy="36576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5488" y="33832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프론트엔드 (Vanilla JS + Tailwind CDN)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370332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376732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대시보드  /  위협 목록  /  행동 목록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47472" y="4389120"/>
            <a:ext cx="5029200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" y="445312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보고서  /  설정  /  고객센터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7472" y="5074920"/>
            <a:ext cx="502920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5488" y="5138928"/>
            <a:ext cx="4754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랜딩  /  온보딩  /  조직 관리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69280" y="3337560"/>
            <a:ext cx="6172200" cy="25420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669280" y="3337560"/>
            <a:ext cx="6172200" cy="36576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3383280"/>
            <a:ext cx="5852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배포 인프라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3703320"/>
            <a:ext cx="6172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69280" y="3703320"/>
            <a:ext cx="73152" cy="53035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806440" y="374903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Vercel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23760" y="374903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API 라우터 + 정적 프론트엔드 서빙  (진입점: app.py)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4251959"/>
            <a:ext cx="61722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669280" y="4251959"/>
            <a:ext cx="7315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806440" y="429767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Railway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429767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Celery 워커 + Beat 스케줄러  (-B -c 2)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69280" y="4800600"/>
            <a:ext cx="617220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0" y="4800600"/>
            <a:ext cx="73152" cy="5303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06440" y="48463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Redis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223760" y="484632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Celery 브로커 + 결과 백엔드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5349240"/>
            <a:ext cx="617220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0" y="5349240"/>
            <a:ext cx="73152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806440" y="5394959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PostgreSQL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223760" y="5394959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운영 DB  (로컬: SQLite)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①
3계층 AI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비용을 최소화하면서 정확도를 극대화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① — 3계층 AI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L1($0) → L2(저비용) → L3(고위협만) 순서로 AI 비용 최소화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841248"/>
            <a:ext cx="3749039" cy="47548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87782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8778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규칙 기반 필터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316736"/>
            <a:ext cx="3749039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533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44444"/>
                </a:solidFill>
              </a:rPr>
              <a:t>비용 $0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0934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backend/services/analyzers/l1_filter.py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1920240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96596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900개+ 키워드 DB (18개 카테고리)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2761488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072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CRITICAL_BYPASS: 법적 위협 패턴 즉시 통과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602736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6484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NEGATIVE_FILTERS 20개+ — 오탐(범용어) 방지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443984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4897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score &lt; 0.05 → 탈락, AI 호출 없음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285232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33095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industry_threshold: food=0.067 / general=0.08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5656" y="34747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6A34A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79392" y="841248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79392" y="841248"/>
            <a:ext cx="3749039" cy="47548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87782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92624" y="8778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감성·의도 분석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1316736"/>
            <a:ext cx="3749039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0" y="13533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44444"/>
                </a:solidFill>
              </a:rPr>
              <a:t>배치 10건/호출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160934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backend/services/analyzers/l2_text.py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1920240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196596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HyperCLOVA X → Gemini 2.5 Flash Lite → KNU 폴백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9392" y="2761488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28072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12개 마케팅 위기 카테고리 분류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279392" y="3602736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0" y="36484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감성(positive/neutral/negative) + 감정 7가지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79392" y="4443984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44897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봇 확률(0.0–1.0) + 조직적 공격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79392" y="5285232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0" y="533095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불완전 JSON 배열 자동 복구 로직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5" y="3474720"/>
            <a:ext cx="20116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2" y="841248"/>
            <a:ext cx="3749039" cy="5669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11312" y="841248"/>
            <a:ext cx="3749039" cy="47548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877824"/>
            <a:ext cx="658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877824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심층 대응 분석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11312" y="1316736"/>
            <a:ext cx="3749039" cy="29260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21040" y="1353312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444444"/>
                </a:solidFill>
              </a:rPr>
              <a:t>고위협(score≥85)만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1609344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backend/services/analyzers/l3_deep.py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11312" y="1920240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21040" y="1965960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Gemini 2.5 Flash Lite → Claude Haiku 4.5 폴백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11312" y="2761488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2807208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brand_damage_type 분류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11312" y="3602736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21040" y="3648456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  (매출타격·채용악영향·파트너십위험 등)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11312" y="4443984"/>
            <a:ext cx="3749039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21040" y="4489704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communication_urgency (즉시/당일/48h/모니터링)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11312" y="5285232"/>
            <a:ext cx="3749039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21040" y="5330952"/>
            <a:ext cx="3520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• SNS대응·보도자료·내부조치 대응 문구 자동 생성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②
리스크 스코어링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위협 점수 0–100 자동 산출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② — 리스크 스코어링 엔진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backend/services/risk_scorer.py  — 설계에서 확정된 가중치 테이블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11494008" cy="96012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896112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base = SEVERITY_WEIGHTS[severity] × MODULE_WEIGHTS[module] × PLATFORM_WEIGHTS[platform] × confidence × 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129844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ABBDD"/>
                </a:solidFill>
              </a:rPr>
              <a:t>base  ×=  industry_multiplier     if is_organized: base = min(base × 1.3, 100)     final = base × (recency_weight + velocity_bonus)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920240"/>
            <a:ext cx="3749039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심각도 (SEVERITY_WEIGHTS)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304288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64991" y="23500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2626"/>
                </a:solidFill>
              </a:rPr>
              <a:t>1.0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779776"/>
            <a:ext cx="37490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" y="2825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64991" y="28254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580C"/>
                </a:solidFill>
              </a:rPr>
              <a:t>0.7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255264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64991" y="33009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7706"/>
                </a:solidFill>
              </a:rPr>
              <a:t>0.4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730752"/>
            <a:ext cx="37490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37764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64991" y="37764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16A34A"/>
                </a:solidFill>
              </a:rPr>
              <a:t>0.15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79392" y="1920240"/>
            <a:ext cx="3749039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1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모듈 (MODULE_WEIGHTS)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9392" y="2304288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70831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A — 브랜드 사칭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96912" y="23500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C2626"/>
                </a:solidFill>
              </a:rPr>
              <a:t>1.0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79392" y="2779776"/>
            <a:ext cx="37490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1" y="2825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B — 루머·가짜뉴스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96912" y="28254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EA580C"/>
                </a:solidFill>
              </a:rPr>
              <a:t>0.85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9392" y="3255264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 — 임직원 리스크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3009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D97706"/>
                </a:solidFill>
              </a:rPr>
              <a:t>0.7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11312" y="1920240"/>
            <a:ext cx="3749039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1956816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플랫폼 (PLATFORM_WEIGHTS)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11312" y="2304288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02752" y="2350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Instagram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28832" y="2350008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C1428"/>
                </a:solidFill>
              </a:rPr>
              <a:t>1.0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11312" y="2779776"/>
            <a:ext cx="37490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02752" y="28254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YouTube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28832" y="28254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C1428"/>
                </a:solidFill>
              </a:rPr>
              <a:t>0.9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11312" y="3255264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02752" y="330098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TikTok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28832" y="330098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C1428"/>
                </a:solidFill>
              </a:rPr>
              <a:t>0.85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11312" y="3730752"/>
            <a:ext cx="3749039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02752" y="377647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X (Twitter)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228832" y="3776472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C1428"/>
                </a:solidFill>
              </a:rPr>
              <a:t>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11312" y="4206240"/>
            <a:ext cx="3749039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02752" y="425196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Naver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228832" y="4251960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C1428"/>
                </a:solidFill>
              </a:rPr>
              <a:t>0.7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4937760"/>
            <a:ext cx="11494008" cy="38404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9926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0C1428"/>
                </a:solidFill>
              </a:rPr>
              <a:t>최신성 가중치:  &lt; 1h → 1.0  |  1–6h → 0.9  |  6–24h → 0.75  |  1–3일 → 0.5  |  3–7일 → 0.3  |  7일+ → 0.1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" y="5440680"/>
            <a:ext cx="11494008" cy="3840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49554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FFFFFF"/>
                </a:solidFill>
              </a:rPr>
              <a:t>임계값:  80–100 CRITICAL (즉각 Slack)   60–79 HIGH (당일)   35–59 MEDIUM (모니터링)   0–34 LOW (리포트)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7472" y="5943600"/>
            <a:ext cx="11494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조직적 공격 탐지: text_uniformity·account_cluster·temporal_cluster 등 6개 지표 가중합 → attack_score ≥ 0.7 → organized_attack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③
데이터 수집기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5개 플랫폼 Celery 자동 수집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③ — 데이터 수집기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backend/services/collectors/  — Celery Beat 30분 주기 병렬 수집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11494008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886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상태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886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플랫폼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886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수집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886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구현 방법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88696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</a:rPr>
              <a:t>비고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225296"/>
            <a:ext cx="11494008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1225296"/>
            <a:ext cx="914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38988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✅ 실동작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138988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Naver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138988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블로그·카페·뉴스·이미지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3898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NAVER_CLIENT_ID/SECRET → Search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38988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검증 완료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1929384"/>
            <a:ext cx="11494008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1929384"/>
            <a:ext cx="914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093976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✅ API 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2093976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YouTube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40" y="2093976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영상 댓글·메타데이터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209397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YOUTUBE_API_KEY → Data API v3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09397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remove_pii 적용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2633472"/>
            <a:ext cx="11494008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7472" y="2633472"/>
            <a:ext cx="91440" cy="685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2798064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6A34A"/>
                </a:solidFill>
              </a:rPr>
              <a:t>✅ API 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2798064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X (Twitter)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279806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트윗·대화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279806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X_BEARER_TOKEN → v2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79806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6A34A"/>
                </a:solidFill>
              </a:rPr>
              <a:t>remove_pii 적용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3337560"/>
            <a:ext cx="11494008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7472" y="3337560"/>
            <a:ext cx="9144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502152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D97706"/>
                </a:solidFill>
              </a:rPr>
              <a:t>🟡 Mock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3502152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한국 커뮤니티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350215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에펨코리아·더쿠·클리앙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350215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크롤링 (robots.txt 자동 준수)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5021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97706"/>
                </a:solidFill>
              </a:rPr>
              <a:t>Mock 처리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7472" y="4041648"/>
            <a:ext cx="11494008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47472" y="4041648"/>
            <a:ext cx="91440" cy="685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4206240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❌ v1.1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" y="4206240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Instagram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06040" y="420624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게시글·댓글·스토리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420624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Meta API 접근 제한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0" y="42062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v1.1 구현 예정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47472" y="4745736"/>
            <a:ext cx="11494008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47472" y="4745736"/>
            <a:ext cx="91440" cy="6858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5488" y="4910328"/>
            <a:ext cx="5669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88"/>
                </a:solidFill>
              </a:rPr>
              <a:t>❌ v1.1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" y="4910328"/>
            <a:ext cx="1600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TikTok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606040" y="49103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영상·댓글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491032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TikTok API 접근 제한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4910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888888"/>
                </a:solidFill>
              </a:rPr>
              <a:t>v1.1 구현 예정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5468112"/>
            <a:ext cx="11494008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551383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C1428"/>
                </a:solidFill>
              </a:rPr>
              <a:t>공통 컴플라이언스 처리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" y="580644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robots.txt 자동 체크 → 수집 전 허용 여부 확인  |  전화번호·이메일·주민번호 정규식 PII 마스킹
요청 간 최소 2초 지연 (Rate Limiter)  |  뉴스 도메인 자동 분류 (is_news_domain())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④
카드뉴스 파이프라인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위협 데이터 → 유튜브 쇼츠 영상 완전 자동화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④ — 카드뉴스 자동 생성 파이프라인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card-news-pipeline/  — SAYbrand 위협 DB → 유튜브 쇼츠 영상 완전 자동화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841248"/>
            <a:ext cx="1828800" cy="43891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① DB 로드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db_source.py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최근 14일 위협
critical/high/medium
최신순 DESC LIMIT 100
Mock AI 분석 필터링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5415" y="3291840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22576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22576" y="841248"/>
            <a:ext cx="1828800" cy="43891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14016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② 소재 선택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14016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selector.py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오늘 우선 탐색
→ 1·2·3일 전
→ 전체 최고점
used_ids 중복 제거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291840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97680" y="841248"/>
            <a:ext cx="1828800" cy="4389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③ 스크립팅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llm_scripter.py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Claude Haiku 4.5
headline ≤ 20자
body ≤ 150자
태그 5개 JSON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35624" y="3291840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841248"/>
            <a:ext cx="1828800" cy="43891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64224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④ 렌더링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renderer.py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Playwright Chromium
1080×1920 세로형
Pixazo 히어로 이미지
PNG 슬라이드 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10728" y="3291840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7888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47888" y="841248"/>
            <a:ext cx="1828800" cy="43891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39328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⑤ 영상 조립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8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video.py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39328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FFmpeg MP4 변환
assets/bgm/*.mp3
배경음악 믹싱
출력: source_id.mp4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85832" y="3291840"/>
            <a:ext cx="1645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6EF8"/>
                </a:solidFill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22992" y="841248"/>
            <a:ext cx="1828800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22992" y="841248"/>
            <a:ext cx="1828800" cy="438912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14432" y="877824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⑥ 검수·업로드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14432" y="131673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88888"/>
                </a:solidFill>
              </a:rPr>
              <a:t>orchestrator.py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14432" y="1664208"/>
            <a:ext cx="1645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Discord Webhook
검수 요청 전송
승인 후 YouTube
비공개 Shorts 업로드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47472" y="6236208"/>
            <a:ext cx="11494008" cy="32004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291072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폴백:  ANTHROPIC_API_KEY 없을 때 scripter.py 규칙 기반 템플릿 자동 대체  |  DATABASE_URL 없을 때 mock_data.py 샘플 사용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⑤
보고서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일간·주간·월간 PDF / PPT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⑤ — 보고서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backend/services/report_generator.py  +  pptx_generator.py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54864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886968"/>
            <a:ext cx="52303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PDF 보고서  —  GET /api/reports/{period}/pdf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252728"/>
            <a:ext cx="5486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9844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라이브러리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48840" y="1298448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ReportLab ≥ 4.0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1911095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956815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용지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48840" y="1956815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A4, 8섹션 구성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2569464"/>
            <a:ext cx="5486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261518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한국어 폰트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615184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NanumGothic TTF 번들 (서버 폰트 없을 때 자동 탐색)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227832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2735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텍스트 처리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48840" y="3273552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wordWrap='CJK' — 한국어 셀 오버플로 방지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3886200"/>
            <a:ext cx="5486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39319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레이아웃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48840" y="3931920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테이블 너비 180mm (A4 210mm − 좌우 여백 각 15mm)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4544568"/>
            <a:ext cx="548640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459028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자동 삽입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4590288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헤더·푸터 (표지 제외) + 페이지 번호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5202936"/>
            <a:ext cx="548640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" y="52486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섹션 구성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248656"/>
            <a:ext cx="3566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표지·핵심요약·위협현황·감성·조직공격·Top10·조치·권고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53912" y="841248"/>
            <a:ext cx="5687568" cy="41148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886968"/>
            <a:ext cx="5431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PPT 보고서  —  GET /api/reports/{period}/pptx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53912" y="1252728"/>
            <a:ext cx="5687568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29844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라이브러리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1298448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python-pptx ≥ 0.6.21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53912" y="1911095"/>
            <a:ext cx="568756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81928" y="1956815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규격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1956815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16:9 (13.33 × 7.5 인치), 6슬라이드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53912" y="2569464"/>
            <a:ext cx="5687568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81928" y="2615184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슬라이드 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2615184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Cover — NAVY 배경, KPI 4개 박스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53912" y="3227832"/>
            <a:ext cx="568756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81928" y="327355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슬라이드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55279" y="3273552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핵심 요약 — KPI 6개 그리드 + 브랜드 점수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53912" y="3886200"/>
            <a:ext cx="5687568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3931920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슬라이드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79" y="3931920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위협 현황 — 심각도·플랫폼 인라인 바 차트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53912" y="4544568"/>
            <a:ext cx="5687568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81928" y="4590288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슬라이드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79" y="4590288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감성 분석 — 감성 분포 + 감정 분류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53912" y="5202936"/>
            <a:ext cx="5687568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81928" y="5248656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슬라이드 5·6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79" y="5248656"/>
            <a:ext cx="376732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C1428"/>
                </a:solidFill>
              </a:rPr>
              <a:t>미해결 Top5 테이블 + 대응 권고사항 카드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5916168"/>
            <a:ext cx="11494008" cy="65836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5971032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공통:  period = daily / weekly / monthly  |  is_mock 필드로 실데이터 여부 구분  |  브랜드 점수·KPI·감성·감정·조직공격·봇 수 등 통합 JSON 리포트 먼저 생성 후 PDF/PPT 렌더링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6EF8"/>
                </a:solidFill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78892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구현 ⑥
조직 관리 &amp; 인증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3931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BBDD"/>
                </a:solidFill>
              </a:rPr>
              <a:t>RBAC · Google OAuth · Polar 결제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577"/>
                </a:solidFill>
              </a:rPr>
              <a:t>SAYbrand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구현 ⑥ — 조직 관리 &amp; 인증 &amp; 결제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backend/routers/  auth · orgs · billing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356616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886968"/>
            <a:ext cx="331012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멤버 역할 (RBAC)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1225296"/>
            <a:ext cx="356616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" y="1225296"/>
            <a:ext cx="73152" cy="5303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271016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DC2626"/>
                </a:solidFill>
              </a:rPr>
              <a:t>owner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127101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전체 관리 (삭제 포함)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1773936"/>
            <a:ext cx="3566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7472" y="1773936"/>
            <a:ext cx="73152" cy="5303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1819655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EA580C"/>
                </a:solidFill>
              </a:rPr>
              <a:t>admin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1819655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멤버 관리·설정 변경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2322576"/>
            <a:ext cx="3566160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7472" y="2322576"/>
            <a:ext cx="73152" cy="53035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2368296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6EF8"/>
                </a:solidFill>
              </a:rPr>
              <a:t>member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368296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스캔·위협 처리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871215"/>
            <a:ext cx="3566160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47472" y="2871215"/>
            <a:ext cx="73152" cy="530352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2916935"/>
            <a:ext cx="1097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8888"/>
                </a:solidFill>
              </a:rPr>
              <a:t>viewer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2916935"/>
            <a:ext cx="2194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읽기 전용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841248"/>
            <a:ext cx="3840480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51960" y="886968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가입 플로우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1225296"/>
            <a:ext cx="384048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1261872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초대 코드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1609344"/>
            <a:ext cx="384048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16459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관리자 → 코드 생성(역할·만료·횟수)
→ URL 공유 → 입력 → 즉시 active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0" y="2395728"/>
            <a:ext cx="3840480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51960" y="2432304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승인 요청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2779776"/>
            <a:ext cx="3840480" cy="74980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51960" y="2816352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사용자 → 참여 신청(pending)
→ 관리자 승인(active) / 거절(DB 삭제)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56448" y="841248"/>
            <a:ext cx="3685032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84464" y="886968"/>
            <a:ext cx="3429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</a:rPr>
              <a:t>인증 &amp; 결제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6448" y="1225296"/>
            <a:ext cx="3685032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126187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Google OAuth 2.0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0" y="1261872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C1428"/>
                </a:solidFill>
              </a:rPr>
              <a:t>Authlib — /auth/google → 콜백 → JWT 발급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56448" y="1773936"/>
            <a:ext cx="368503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181051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Polar 결제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75520" y="1810512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C1428"/>
                </a:solidFill>
              </a:rPr>
              <a:t>/billing/checkout/{plan} → 체크아웃 링크 리다이렉트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56448" y="2322576"/>
            <a:ext cx="3685032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4464" y="235915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Svix 웹훅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75520" y="2359152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C1428"/>
                </a:solidFill>
              </a:rPr>
              <a:t>whsec_ prefix 제거 후 base64 decode 서명 검증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156448" y="2871215"/>
            <a:ext cx="3685032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84464" y="2907791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구독 동기화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75520" y="2907791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C1428"/>
                </a:solidFill>
              </a:rPr>
              <a:t>POST /billing/sync — 이메일 기준 수동 동기화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6448" y="3419856"/>
            <a:ext cx="3685032" cy="5303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84464" y="3456432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88"/>
                </a:solidFill>
              </a:rPr>
              <a:t>티어 제한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875520" y="3456432"/>
            <a:ext cx="187451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C1428"/>
                </a:solidFill>
              </a:rPr>
              <a:t>free=조직1  starter=3  pro=5  enterprise=무제한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47472" y="3474720"/>
            <a:ext cx="11494008" cy="384048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3520440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3단계 온보딩 (/onboarding)  — CustomerProfile 없으면 자동 리다이렉트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47472" y="3858768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47472" y="3858768"/>
            <a:ext cx="3749039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57200" y="38953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경로 선택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4334256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새 조직 만들기 / 기존 조직 참여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42816" y="3858768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242816" y="3858768"/>
            <a:ext cx="3749039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52544" y="38953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11496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조직 설정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352544" y="4334256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조직명·도메인 / 초대 코드 입력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138160" y="3858768"/>
            <a:ext cx="3749039" cy="26060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138160" y="3858768"/>
            <a:ext cx="3749039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47888" y="3895344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06840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브랜드 등록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47888" y="4334256"/>
            <a:ext cx="3520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브랜드명·별칭·업종·SNS계정·임직원·키워드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11  완성된 기능 목록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구현 현황 총정리  —  기준일 2026-06-21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" y="93268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93268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코어 AI 파이프라인 (L1→L2→L3)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93268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실동작 검증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" y="1408176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" y="149961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49961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리스크 스코어링 엔진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49961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가중치 테이블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1975104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" y="20665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066544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Naver 수집기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206654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실 API 검증 완료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542032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" y="263347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263347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YouTube · X 수집기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07992" y="26334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API 키 있을 때 실동작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7472" y="3108960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624" y="320040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32004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Gemini L2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7992" y="3200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유료 전환 완료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7472" y="3675888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" y="376732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76732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Claude Haiku L3 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07992" y="376732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API 키 있을 때 실동작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242816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0624" y="4334255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334255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KNU 감성 사전 폴백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07992" y="4334255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오프라인 항상 동작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" y="4809744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" y="4901183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4901183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Google OAuth 2.0 인증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07992" y="4901183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실동작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47472" y="5376672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" y="546811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4681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Polar 결제 + Svix 웹훅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07992" y="546811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서명 검증 실동작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7472" y="594360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0624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035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조직 관리 (RBAC·초대코드·승인)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07992" y="60350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실동작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72784" y="841248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45936" y="93268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48272" y="93268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3단계 온보딩 플로우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33304" y="93268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실동작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72784" y="1408176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45936" y="1499616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1499616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PDF / PPT 보고서 자동 생성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433304" y="1499616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일간·주간·월간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72784" y="1975104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45936" y="2066544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2066544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카드뉴스 파이프라인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433304" y="2066544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93 tests passed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72784" y="2542032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45936" y="263347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8272" y="263347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Slack 알림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433304" y="263347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위협 등급별 분기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72784" y="3108960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45936" y="320040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8272" y="320040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고객센터 게시판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433304" y="320040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support_admin_emails 권한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272784" y="3675888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45936" y="3767328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✅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8272" y="3767328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PWA (manifest + Service Worker)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433304" y="3767328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16A34A"/>
                </a:solidFill>
              </a:rPr>
              <a:t>모바일 설치 가능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72784" y="4242816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45936" y="4334255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🟡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48272" y="4334255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Celery 비동기 워커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433304" y="4334255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A580C"/>
                </a:solidFill>
              </a:rPr>
              <a:t>Redis 환경 필요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72784" y="4809744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45936" y="4901183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🟡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48272" y="4901183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이미지 분석 (pHash)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433304" y="4901183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EA580C"/>
                </a:solidFill>
              </a:rPr>
              <a:t>엔진 구현, 파이프라인 미통합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272784" y="5376672"/>
            <a:ext cx="5760720" cy="5486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45936" y="5468112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❌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48272" y="5468112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Instagram 수집기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433304" y="5468112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</a:rPr>
              <a:t>Meta API 제한 — v1.1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72784" y="5943600"/>
            <a:ext cx="57607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45936" y="6035040"/>
            <a:ext cx="3474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/>
              <a:t>❌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48272" y="6035040"/>
            <a:ext cx="3611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TikTok 수집기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433304" y="6035040"/>
            <a:ext cx="1508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888888"/>
                </a:solidFill>
              </a:rPr>
              <a:t>API 제한 — v1.1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12  기술적 도전과 해결책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개발 과정에서 마주한 주요 문제들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" y="841248"/>
            <a:ext cx="5760720" cy="34747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" y="841248"/>
            <a:ext cx="91440" cy="19019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886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Vercel lifespan 미작동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126187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FastAPI lifespan 이벤트가 Vercel 서버리스 환경에서 실행되지 않아 DB 자동 마이그레이션 불가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" y="195681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Railway PostgreSQL에서 직접 SQL 실행 / app.py를 Vercel 진입점으로 분리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2784" y="841248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2784" y="841248"/>
            <a:ext cx="5760720" cy="34747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72784" y="841248"/>
            <a:ext cx="91440" cy="190195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37376" y="886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datetime 타입 불일치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1261872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datetime.now(timezone.utc) 사용 시 asyncpg DataError 발생 — aware datetime을 거부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1956816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DB 전체를 naive UTC(datetime.utcnow())로 통일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2779776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47472" y="2779776"/>
            <a:ext cx="5760720" cy="34747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47472" y="2779776"/>
            <a:ext cx="91440" cy="1901952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8254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Polar Svix 웹훅 서명 검증 실패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" y="3200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헤더 형식이 'v1,&lt;base64&gt;' (쉼표, hex 아님) — whsec_ 접두어 포함 시 검증 실패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" y="389534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whsec_ prefix 제거 후 base64 decode, 헤더 파싱 방식 수정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4" y="2779776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72784" y="2779776"/>
            <a:ext cx="5760720" cy="3474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72784" y="2779776"/>
            <a:ext cx="91440" cy="190195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2825496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L2 배치 응답 불완전 JSON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3200400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Gemini가 배치 10건 처리 시 토큰 한계로 JSON 배열 중간 절단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895344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max_output_tokens 증가 + 불완전 배열 자동 복구 로직 구현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4718304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7472" y="4718304"/>
            <a:ext cx="5760720" cy="34747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7472" y="4718304"/>
            <a:ext cx="91440" cy="1901952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dismissed_urls 쿼리 버그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513892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Python bool과 SQLAlchemy BinaryExpression 혼용으로 스캔 결과 0건 반환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" y="583387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SQLAlchemy 표현식 방식으로 통일 (commit d0bc54b)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4718304"/>
            <a:ext cx="5760720" cy="19019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272784" y="4718304"/>
            <a:ext cx="5760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72784" y="4718304"/>
            <a:ext cx="91440" cy="19019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37376" y="4764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Gemini 모델명 deprecated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5138928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문제: gemini-2.0-flash-lite 호출 시 404 오류 — 이미 deprecated된 모델명 사용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5833872"/>
            <a:ext cx="5486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해결: gemini-2.5-flash-lite로 교체 + google-genai ≥ 1.0.0 SDK로 마이그레이션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13  테스트 결과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30352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pytest — 카드뉴스 파이프라인 93 tests passed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841248"/>
            <a:ext cx="11494008" cy="1051560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896112"/>
            <a:ext cx="4572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6A34A"/>
                </a:solidFill>
              </a:rPr>
              <a:t>93 passed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5087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ABBDD"/>
                </a:solidFill>
              </a:rPr>
              <a:t>0 failed  |  0 errors  |  card-news-pipeline/tests/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029968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03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test_pipeline.py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10312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전체 파이프라인 통합 흐름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523744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5968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test_selector.py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19272" y="2596896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소재 선택 알고리즘 (날짜 우선순위·중복 제거)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017520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0906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test_db_source.py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9272" y="3090672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DB 로드 / Mock 폴백 동작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7472" y="351129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584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test_llm_scripter.py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19272" y="358444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Claude Haiku 스크립팅 / 템플릿 폴백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4005072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0782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test_scripter.py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19272" y="407822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규칙 기반 스크립트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" y="449884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572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test_renderer.py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57200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Playwright 슬라이드 렌더링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7472" y="4992624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65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test_orchestrator.py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9272" y="5065776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전체 오케스트레이터 흐름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7472" y="548640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5559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test_discord_review.py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5559552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Discord Webhook 검수 요청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7472" y="5980176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60533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test_youtube_upload.py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605332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YouTube OAuth2 업로드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4" y="2029968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82512" y="210312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test_video.py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44584" y="210312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FFmpeg MP4 조립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2523744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82512" y="259689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test_alerts.py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44584" y="2596896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오류 알림 전송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72784" y="3017520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82512" y="309067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test_run_log.py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44584" y="3090672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실행 이력 로깅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72784" y="3511296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82512" y="358444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test_store.py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44584" y="358444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used_ids 영속화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72784" y="4005072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82512" y="407822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test_review_status.py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44584" y="4078224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검수 상태 JSON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72784" y="4498848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82512" y="4572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test_history.py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244584" y="4572000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실행 히스토리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72784" y="4992624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82512" y="506577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test_run.py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44584" y="5065776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진입점 run.py 흐름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72784" y="5486400"/>
            <a:ext cx="57607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82512" y="55595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test_health_check.py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44584" y="5559552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헬스체크 엔드포인트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72784" y="5980176"/>
            <a:ext cx="5760720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82512" y="60533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C1428"/>
                </a:solidFill>
              </a:rPr>
              <a:t>test_mock_data.py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4584" y="6053328"/>
            <a:ext cx="26700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샘플 데이터 로드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14  결론 · 배운 점 · 개선 방향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711696"/>
            <a:ext cx="91440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99BB"/>
                </a:solidFill>
              </a:rPr>
              <a:t>SAYbrand  —  AI 기반 브랜드 위협 모니터링 시스템  |  2026-06-21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0" y="6711696"/>
            <a:ext cx="41148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BB"/>
                </a:solidFill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841248"/>
            <a:ext cx="11494008" cy="384048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886968"/>
            <a:ext cx="11155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결론  —  무엇을 만들었나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" y="1225296"/>
            <a:ext cx="11494008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271016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✓  FastAPI + SQLAlchemy async 풀스택으로 실제 배포 가능한 B2B SaaS를 구현했습니다.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1719072"/>
            <a:ext cx="114940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1764792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✓  3계층 AI 파이프라인(L1 규칙→L2 Gemini→L3 Claude)으로 비용을 최소화하면서 고위협 탐지 정확도를 높였습니다.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7472" y="2212848"/>
            <a:ext cx="11494008" cy="475488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58568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✓  카드뉴스 파이프라인을 통해 탐지된 위협 데이터를 YouTube Shorts 영상까지 완전 자동화했습니다.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" y="2706624"/>
            <a:ext cx="11494008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2752344"/>
            <a:ext cx="112471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C1428"/>
                </a:solidFill>
              </a:rPr>
              <a:t>✓  Vercel + Railway 듀얼 배포로 서버리스 API와 상시 Celery 워커를 분리 운영하는 구조를 완성했습니다.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" y="3273552"/>
            <a:ext cx="5394960" cy="384048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319272"/>
            <a:ext cx="5120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배운 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" y="3657600"/>
            <a:ext cx="539496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5488" y="3712463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서버리스 환경의 제약 (lifespan·logging·datetime)은
실제 배포 전에 반드시 검증해야 한다.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4343400"/>
            <a:ext cx="53949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398264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AI API 비용은 레이어드 아키텍처로 통제해야
프로덕션에서 비용 폭발을 막을 수 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" y="5029200"/>
            <a:ext cx="539496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" y="5084064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외부 API(Polar·Svix·Gemini)의 스펙은
공식 문서와 실제 동작이 다를 수 있다.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7472" y="5715000"/>
            <a:ext cx="539496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" y="5769864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Mock과 실동작을 명확히 구분하지 않으면
완료 기준이 모호해져 품질이 낮아진다.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3273552"/>
            <a:ext cx="5760720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319272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향후 개선 방향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80760" y="3657600"/>
            <a:ext cx="57607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36208" y="3712463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단기 (v1.0)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26679" y="3712463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Instagram · TikTok 수집기 구현
이미지 pHash 분석 파이프라인 통합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80760" y="4343400"/>
            <a:ext cx="57607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36208" y="4398264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중기 (v1.5)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4398264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한국 커뮤니티 실시간 크롤러
HyperCLOVA X L2 기본 엔진 연동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5029200"/>
            <a:ext cx="5760720" cy="66751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36208" y="5084064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장기 (v2.0)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26679" y="5084064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멀티모달 이미지·영상 분석
화이트라벨 대량 공급 인프라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80760" y="5715000"/>
            <a:ext cx="5760720" cy="667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5769864"/>
            <a:ext cx="1463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A580C"/>
                </a:solidFill>
              </a:rPr>
              <a:t>품질 개선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79" y="5769864"/>
            <a:ext cx="400507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444"/>
                </a:solidFill>
              </a:rPr>
              <a:t>오탐률 &lt; 10% 달성 검증
테스트 커버리지 90%+ 목표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C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Q &amp;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ABBDD"/>
                </a:solidFill>
              </a:rPr>
              <a:t>감사합니다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611880"/>
            <a:ext cx="9875520" cy="45720"/>
          </a:xfrm>
          <a:prstGeom prst="rect">
            <a:avLst/>
          </a:prstGeom>
          <a:solidFill>
            <a:srgbClr val="1A6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794760"/>
            <a:ext cx="9875520" cy="53035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840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프로젝트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384048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SAYbrand — AI 기반 브랜드 위협 모니터링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343400"/>
            <a:ext cx="9875520" cy="53035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4389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핵심 기술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438912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3계층 AI 파이프라인  |  리스크 스코어링  |  카드뉴스 자동 생성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892040"/>
            <a:ext cx="9875520" cy="53035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49377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배포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937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Vercel (API + Frontend)  +  Railway (Celery Worker)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440680"/>
            <a:ext cx="9875520" cy="53035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5486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테스트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548640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카드뉴스 파이프라인 93 tests passed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9875520" cy="530352"/>
          </a:xfrm>
          <a:prstGeom prst="rect">
            <a:avLst/>
          </a:prstGeom>
          <a:solidFill>
            <a:srgbClr val="1D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60350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</a:rPr>
              <a:t>버전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14600" y="603504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v0.3.1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0" i="0">
                <a:solidFill>
                  <a:srgbClr val="445577"/>
                </a:solidFill>
              </a:rPr>
              <a:t>2026-06-21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