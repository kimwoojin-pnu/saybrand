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SAYbrand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ABBDD"/>
                </a:solidFill>
              </a:rPr>
              <a:t>AI 기반 브랜드 위협 모니터링 SaaS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97480"/>
            <a:ext cx="10515600" cy="4572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공개 SNS 데이터를 3계층 AI 파이프라인으로 실시간 분석하여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01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브랜드 사칭 · 가짜뉴스 · 조직적 봇 공격을 자동 탐지합니다.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2697480" cy="160020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159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핵심 기술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45152"/>
            <a:ext cx="2423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3계층 AI 파이프라인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93591" y="4206240"/>
            <a:ext cx="2697480" cy="160020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43159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수집 플랫폼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4645152"/>
            <a:ext cx="2423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Naver · YouTube · 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5664" y="4206240"/>
            <a:ext cx="2697480" cy="160020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3159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카드뉴스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645152"/>
            <a:ext cx="2423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자동 쇼츠 영상 생성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17736" y="4206240"/>
            <a:ext cx="2697480" cy="160020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4896" y="43159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보고서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4896" y="4645152"/>
            <a:ext cx="2423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PDF / PPT 자동 생성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688"/>
                </a:solidFill>
              </a:rPr>
              <a:t>2026-06-21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41248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41248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09728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9144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문제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3441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브랜드가 직면한 위협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841248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841248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09728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9144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솔루션 개요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3441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SAYbrand가 제공하는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56816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1956816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2128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029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3계층 AI 파이프라인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45973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L1 → L2 → L3 비용 최소화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956816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956816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2128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029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리스크 스코어링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45973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위협 점수 산출 공식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72384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072384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328415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14553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데이터 수집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57530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5개 플랫폼 실시간 수집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072384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3072384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3328415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314553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카드뉴스 파이프라인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57530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위협 → 유튜브 쇼츠 자동 생성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2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187952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44439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426110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보고서 시스템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4690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PDF / PPT 자동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187952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4187952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73952" y="44439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26110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조직 관리 &amp; 배포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4690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RBAC · Vercel + Railway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303520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5303520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55595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3766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차별화 &amp; 가격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" y="58064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경쟁 우위 및 구독 티어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5303520"/>
            <a:ext cx="562356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5303520"/>
            <a:ext cx="502920" cy="9875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73952" y="55595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3766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로드맵 &amp; KPI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8064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성공 지표와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01  문제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브랜드가 직면한 디지털 위협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브랜드가 직면한 위협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SNS 공간에서 하루에도 수백 건의 위협이 발생합니다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68680"/>
            <a:ext cx="2697480" cy="5349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868680"/>
            <a:ext cx="269748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브랜드 사칭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0020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공식 계정을 흉내 낸 가짜 계정이
소비자를 기만하고 신뢰를 훼손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3552" y="868680"/>
            <a:ext cx="2697480" cy="5349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868680"/>
            <a:ext cx="269748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02412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가짜뉴스 / 루머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160020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사실 무근의 악성 루머가 SNS를 타고
수십만 명에게 순식간에 확산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868680"/>
            <a:ext cx="2697480" cy="5349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868680"/>
            <a:ext cx="26974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102412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조직적 봇 공격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160020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경쟁사 또는 악의적 세력이 봇 계정으로
집단적인 부정 댓글·리뷰 공격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97696" y="868680"/>
            <a:ext cx="2697480" cy="5349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7696" y="868680"/>
            <a:ext cx="2697480" cy="731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102412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임직원 리스크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160020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임원·직원의 개인 SNS 발언이
기업 이미지에 치명타를 입힘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355080"/>
            <a:ext cx="1136599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373368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문제: 사람이 24시간 모니터링하기엔 데이터가 너무 많고 빠릅니다.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02  솔루션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SAYbrand가 제공하는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SAYbrand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AI가 24시간 자동으로 브랜드를 지킵니다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412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SAYbrand는 공개 SNS 데이터를 AI로 실시간 분석하여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618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C1428"/>
                </a:solidFill>
              </a:rPr>
              <a:t>브랜드를 위협하는 모든 요소를 사전 탐지·대응하는 B2B 브랜드 보호 SaaS입니다.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74519"/>
            <a:ext cx="269748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74519"/>
            <a:ext cx="2697480" cy="41148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" y="1920240"/>
            <a:ext cx="2478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24시간 자동 감시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2395728"/>
            <a:ext cx="247802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사칭·가짜뉴스·루머·임직원 리스크를
사람 없이 탐지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3552" y="1874519"/>
            <a:ext cx="269748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73552" y="1874519"/>
            <a:ext cx="269748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920240"/>
            <a:ext cx="2478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AI 위협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95728"/>
            <a:ext cx="247802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즉각 알림 vs 정기 리포트를
AI가 자동 분기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5624" y="1874519"/>
            <a:ext cx="269748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5624" y="1874519"/>
            <a:ext cx="2697480" cy="4114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920240"/>
            <a:ext cx="2478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조직적 공격 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2395728"/>
            <a:ext cx="247802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봇 공격과 실제 소비자 불만을 분리해
불필요한 법적 대응 방지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7696" y="1874519"/>
            <a:ext cx="269748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7696" y="1874519"/>
            <a:ext cx="269748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424" y="1920240"/>
            <a:ext cx="2478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즉시 대응 문구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2395728"/>
            <a:ext cx="247802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SNS 대응·보도자료·내부 조치
3가지 문구 AI가 자동 생성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6400800"/>
            <a:ext cx="11365992" cy="18288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419088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타겟: B2C 브랜드(뷰티·패션·식품)  |  브랜드 모니터링이 없는 중견기업  |  팔로워 1만+ 인플루언서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03  3계층 AI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비용을 최소화하면서 정확도를 극대화합니다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3계층 AI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L1 → L2 → L3 순서로 고위협만 상위 계층 호출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22960"/>
            <a:ext cx="3657600" cy="5486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822960"/>
            <a:ext cx="365760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85039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85039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규칙 기반 필터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325880"/>
            <a:ext cx="3657600" cy="29260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135331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44444"/>
                </a:solidFill>
              </a:rPr>
              <a:t>$0 비용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719072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900개+ 키워드 데이터베이스 (18개 카테고리)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06039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CRITICAL_BYPASS — 법적 위협 즉시 통과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93008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NEGATIVE_FILTERS 20개+ 오탐 방지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79976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score &lt; 0.05 → 즉시 탈락 (AI 비용 없음)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822960"/>
            <a:ext cx="3657600" cy="5486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822960"/>
            <a:ext cx="3657600" cy="50292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85039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85039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 감성·의도 분석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1325880"/>
            <a:ext cx="3657600" cy="29260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135331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44444"/>
                </a:solidFill>
              </a:rPr>
              <a:t>저비용 (배치 10건/호출)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1719072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HyperCLOVA X → Gemini 2.5 Flash Lite → KNU 폴백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2606039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12개 마케팅 위기 카테고리 분류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493008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감성 + 감정(분노/공포/혐오 등) 분석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379976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봇 확률(0.0–1.0) + 조직적 공격 판별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822960"/>
            <a:ext cx="3657600" cy="5486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822960"/>
            <a:ext cx="3657600" cy="502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85039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19" y="85039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심층 대응 분석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1325880"/>
            <a:ext cx="3657600" cy="29260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7" y="135331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44444"/>
                </a:solidFill>
              </a:rPr>
              <a:t>고비용 (고위협만)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1719072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risk_score ≥ 85 케이스만 호출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606039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Gemini 2.5 Flash Lite → Claude Haiku 4.5 폴백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493008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brand_damage_type 분류 (매출·채용·파트너십 등)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379976"/>
            <a:ext cx="33832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communication_urgency + 대응 문구 3가지 생성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31920" y="3291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3291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A580C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04  리스크 스코어링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위협 점수 0–100 자동 산출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22960"/>
            <a:ext cx="11365992" cy="118872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91440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risk_score = SEVERITY × MODULE × PLATFORM × confidence × 100  ×  industry_multiplier  ×  (recency + velocity)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3716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DD"/>
                </a:solidFill>
              </a:rPr>
              <a:t>조직적 공격 +30%  |  결과값 0–100 클램프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76272"/>
            <a:ext cx="3657600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128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심각도 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560320"/>
            <a:ext cx="365760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Critical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59689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DC2626"/>
                </a:solidFill>
              </a:rPr>
              <a:t>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944368"/>
            <a:ext cx="3657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809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98094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A580C"/>
                </a:solidFill>
              </a:rPr>
              <a:t>0.7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28415"/>
            <a:ext cx="365760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64991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Medium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364991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D97706"/>
                </a:solidFill>
              </a:rPr>
              <a:t>0.4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12463"/>
            <a:ext cx="3657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749039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3749039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6A34A"/>
                </a:solidFill>
              </a:rPr>
              <a:t>0.15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176272"/>
            <a:ext cx="3657600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22128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모듈 가중치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2560320"/>
            <a:ext cx="365760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259689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A — 브랜드 사칭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259689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DC2626"/>
                </a:solidFill>
              </a:rPr>
              <a:t>1.0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2944368"/>
            <a:ext cx="3657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29809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B — 루머·가짜뉴스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98094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A580C"/>
                </a:solidFill>
              </a:rPr>
              <a:t>0.85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3328415"/>
            <a:ext cx="365760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3364991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C — 임직원 리스크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364991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D97706"/>
                </a:solidFill>
              </a:rPr>
              <a:t>0.7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19" y="2176272"/>
            <a:ext cx="3657600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59" y="22128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플랫폼 가중치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19" y="2560320"/>
            <a:ext cx="365760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59" y="259689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Instagram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59" y="259689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19" y="2944368"/>
            <a:ext cx="3657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59" y="29809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YouTube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09959" y="298094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0.9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19" y="3328415"/>
            <a:ext cx="365760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59" y="3364991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TikTok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09959" y="3364991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0.85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5319" y="3712463"/>
            <a:ext cx="3657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59" y="3749039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X (Twitter)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9959" y="3749039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0.8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75319" y="4096511"/>
            <a:ext cx="365760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59" y="4133087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Naver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09959" y="4133087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0.7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6263640"/>
            <a:ext cx="1136599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629107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C1428"/>
                </a:solidFill>
              </a:rPr>
              <a:t>80–100: CRITICAL (즉각 Slack 알림)   60–79: HIGH (당일 대응)   35–59: MEDIUM (모니터링)   0–34: LOW (정기 리포트)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05  데이터 수집기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5개 플랫폼 실시간 자동 수집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데이터 수집기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Celery Beat 30분 주기 자동 수집 + robots.txt 준수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11457432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68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868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플랫폼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868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수집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868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API/방법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868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비고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207008"/>
            <a:ext cx="11457432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207008"/>
            <a:ext cx="109728" cy="7132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38988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/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138988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Naver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1389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블로그·카페·뉴스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38988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NAVER_CLIENT_ID/SECRET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검증 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56816"/>
            <a:ext cx="11457432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1956816"/>
            <a:ext cx="109728" cy="7132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3969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/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13969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YouTube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21396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영상 댓글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13969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YOUTUBE_API_KEY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13969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API 키 필요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06624"/>
            <a:ext cx="11457432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06624"/>
            <a:ext cx="109728" cy="7132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88950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/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88950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X (Twitter)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288950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트윗·대화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88950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X_BEARER_TOKEN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88950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API 키 필요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456432"/>
            <a:ext cx="11457432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3456432"/>
            <a:ext cx="109728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639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/>
              <a:t>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63931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한국 커뮤니티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0" y="3639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에펨·더쿠·클리앙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36393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크롤링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6393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</a:rPr>
              <a:t>Mock 처리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206240"/>
            <a:ext cx="11457432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06240"/>
            <a:ext cx="109728" cy="71323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3891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/>
              <a:t>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38912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Instagram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4389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게시글·댓글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43891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Meta API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4389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v1.1 목표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956048"/>
            <a:ext cx="11457432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4956048"/>
            <a:ext cx="109728" cy="71323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1389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/>
              <a:t>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3892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TikTok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0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영상·댓글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513892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API 제한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51389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v1.1 목표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742432"/>
            <a:ext cx="11457432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컴플라이언스:  robots.txt 자동 체크  |  PII(개인정보) 정규식 마스킹  |  요청 간 최소 2초 지연  |  언론사 도메인 자동 분류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06  카드뉴스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위협 데이터 → 유튜브 쇼츠 영상 자동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카드뉴스 자동 생성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card-news-pipeline/ — 독립 모듈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178308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1783080" cy="4114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503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868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DB 로드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600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최근 14일
critical/high/medium
최신순 LIMIT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128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822960"/>
            <a:ext cx="178308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0" y="822960"/>
            <a:ext cx="1783080" cy="41148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8503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868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소재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1325880"/>
            <a:ext cx="1600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오늘 우선 → 1–3일 전
→ 전체 최고점
중복(used_ids)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7368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822960"/>
            <a:ext cx="178308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822960"/>
            <a:ext cx="178308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8503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868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LLM 스크립팅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1325880"/>
            <a:ext cx="1600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Claude Haiku 4.5
headline ≤ 20자
body ≤ 150자 + 태그 5개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7608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822960"/>
            <a:ext cx="178308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822960"/>
            <a:ext cx="1783080" cy="4114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8503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868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슬라이드 렌더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325880"/>
            <a:ext cx="1600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Playwright Chromium
1080×1920 (세로형)
Pixazo 히어로 이미지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822960"/>
            <a:ext cx="178308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822960"/>
            <a:ext cx="178308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8503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9056" y="868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영상 조립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1325880"/>
            <a:ext cx="1600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FFmpeg MP4
assets/bgm/*.mp3
믹싱 삽입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66960" y="822960"/>
            <a:ext cx="178308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66960" y="822960"/>
            <a:ext cx="1783080" cy="41148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8503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69296" y="868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검수·업로드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1325880"/>
            <a:ext cx="1600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Discord Webhook
검수 후 YouTube
비공개 Shorts 업로드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6236208"/>
            <a:ext cx="11457432" cy="32004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27278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테스트: 93 passed (2026-06-21)  |  폴백: API 키 없을 때 규칙 기반 템플릿 자동 대체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07  보고서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PDF · PPT 자동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보고서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일간·주간·월간 보고서 자동 생성 — GET /api/reports/{period}/{format}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5440680" cy="3840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59536"/>
            <a:ext cx="516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PDF 보고서 (ReportLab)  —  8섹션 A4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07008"/>
            <a:ext cx="54406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527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표지 — 브랜드명·기간·KPI 6개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83080"/>
            <a:ext cx="54406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288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1. 핵심 요약 — Executive Summary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59152"/>
            <a:ext cx="54406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40487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2. 위협 현황 — 심각도·플랫폼·Top5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35224"/>
            <a:ext cx="54406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8094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3. 감성·감정 — 분포 + 부정 사례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11296"/>
            <a:ext cx="54406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55701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4. 조직공격·봇 — 플랫폼별 감성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87368"/>
            <a:ext cx="54406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3308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5. 미해결 위협 Top 10 (AI 권고)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663440"/>
            <a:ext cx="54406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709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6. 조치 완료 내역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239512"/>
            <a:ext cx="54406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28523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7. 모니터링 현황 + 8. 대응 권고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82512" y="822960"/>
            <a:ext cx="5440680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85953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PPT 보고서 (python-pptx)  —  6슬라이드 16:9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1207008"/>
            <a:ext cx="54406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12527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Slide 1 — Cover (NAVY 배경, KPI 4개 박스)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82512" y="1783080"/>
            <a:ext cx="54406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18288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Slide 2 — 핵심 요약 (KPI 6개 그리드)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2359152"/>
            <a:ext cx="54406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0487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Slide 3 — 위협 현황 (인라인 바 차트)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82512" y="2935224"/>
            <a:ext cx="54406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298094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Slide 4 — 감성 분석 (분포 + 감정)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82512" y="3511296"/>
            <a:ext cx="54406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55701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Slide 5 — 미해결 Top 5 (테이블)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82512" y="4087368"/>
            <a:ext cx="544068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413308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Slide 6 — 권고사항 (색상 헤더 카드)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870448"/>
            <a:ext cx="11457432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916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C1428"/>
                </a:solidFill>
              </a:rPr>
              <a:t>공통 기술 특징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한국어 폰트: NanumGothic TTF 번들  |  wordWrap='CJK' 한국어 오버플로 방지  |  헤더·푸터 자동 삽입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08  조직 관리 &amp;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RBAC · Vercel + Railway 듀얼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조직 관리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다중 사용자 RBAC + 초대코드 + 가입 승인 플로우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5029200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5953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멤버 역할 (RBAC)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07008"/>
            <a:ext cx="502920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8"/>
            <a:ext cx="73152" cy="5669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5272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2527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전체 관리 (삭제 포함)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73936"/>
            <a:ext cx="50292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773936"/>
            <a:ext cx="73152" cy="5669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1819656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181965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멤버 관리 · 설정 변경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340864"/>
            <a:ext cx="502920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340864"/>
            <a:ext cx="73152" cy="56692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386584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6EF8"/>
                </a:solidFill>
              </a:rPr>
              <a:t>member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38658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스캔 · 위협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907791"/>
            <a:ext cx="50292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907791"/>
            <a:ext cx="73152" cy="56692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95351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</a:rPr>
              <a:t>viewer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95351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읽기 전용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493008"/>
            <a:ext cx="5029200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5295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구독 티어별 조직 수 제한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877056"/>
            <a:ext cx="50292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92277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</a:rPr>
              <a:t>Free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92277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1개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379976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42569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6EF8"/>
                </a:solidFill>
              </a:rPr>
              <a:t>Starter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42569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3개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882896"/>
            <a:ext cx="50292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92861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Pro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92861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5개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85816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43153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Enterprise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43153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무제한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822960"/>
            <a:ext cx="5852160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85953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가입 플로우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1298448"/>
            <a:ext cx="585216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135331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방법 1 — 초대 코드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1645919"/>
            <a:ext cx="585216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1682495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  관리자 → 코드 생성 (역할·만료일·횟수 지정)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2121408"/>
            <a:ext cx="58521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40" y="2157984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  URL 공유 → 코드 입력 → 즉시 active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2971800"/>
            <a:ext cx="5852160" cy="34747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3026664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방법 2 — 승인 요청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3319272"/>
            <a:ext cx="585216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5040" y="3355848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  사용자 → 참여 신청 (pending)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3794760"/>
            <a:ext cx="58521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3831335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  관리자 승인(active) / 거절(DB 삭제)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시스템 아키텍처 &amp; 배포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Vercel (API + 프론트엔드) + Railway (Celery 워커)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22960"/>
            <a:ext cx="1737360" cy="109728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96112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SNS 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YouTube · Naver ·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68296" y="822960"/>
            <a:ext cx="1737360" cy="10972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9736" y="896112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수집기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1307592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Celery Beat 30분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3944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5112" y="822960"/>
            <a:ext cx="1737360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896112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L1 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1307592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규칙 기반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822960"/>
            <a:ext cx="1737360" cy="109728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896112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L2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1307592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Gemini 2.5 Flash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5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38744" y="822960"/>
            <a:ext cx="1737360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0183" y="896112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L3 심층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3" y="1307592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Claude Haiku 4.5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94392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60" y="822960"/>
            <a:ext cx="1737360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87000" y="896112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DB 저장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1307592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103120"/>
            <a:ext cx="11365992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1579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C1428"/>
                </a:solidFill>
              </a:rPr>
              <a:t>대시보드 API  →  프론트엔드 실시간 표시   |   Slack/이메일 알림   |   PDF/PPT 보고서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633472"/>
            <a:ext cx="5440680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70048"/>
            <a:ext cx="516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Vercel — API + 프론트엔드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017520"/>
            <a:ext cx="544068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0632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진입점: app.py (main.py는 Vercel 미반영)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66160"/>
            <a:ext cx="5440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6118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로깅: print()만 Vercel 로그에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114800"/>
            <a:ext cx="544068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1605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lifespan 미작동 → DB 마이그레이션은 Railway에서 직접 SQL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663440"/>
            <a:ext cx="5440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709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datetime: naive UTC 사용 (timezone.utc → asyncpg 오류)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633472"/>
            <a:ext cx="5376672" cy="3840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2670048"/>
            <a:ext cx="5102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Railway — Celery 워커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017520"/>
            <a:ext cx="5376672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3063240"/>
            <a:ext cx="5166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startCommand: celery -A backend.workers.celery_app worker -B -c 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3566160"/>
            <a:ext cx="53766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611880"/>
            <a:ext cx="5166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collect_all_profiles: 30분 주기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4114800"/>
            <a:ext cx="5376672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4160520"/>
            <a:ext cx="5166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send_daily_reports: 매일 09:00 KST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4663440"/>
            <a:ext cx="53766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37960" y="4709160"/>
            <a:ext cx="5166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purge_expired_data: 매일 새벽 02:00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Python 3.11+ 풀스택 — 빌드 도구 없는 경량 프론트엔드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2816352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859536"/>
            <a:ext cx="2633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백엔드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07008"/>
            <a:ext cx="2816352" cy="12070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FastAPI 0.115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6420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비동기 REST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41448"/>
            <a:ext cx="2816352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9631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SQLAlchemy 2.0 async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9864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ORM + 마이그레이션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75888"/>
            <a:ext cx="2816352" cy="12070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3075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Celery 5.4 + Redis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3308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비동기 워커 + 스케줄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910328"/>
            <a:ext cx="2816352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6519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Authlib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6752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Google OAuth 2.0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9272" y="822960"/>
            <a:ext cx="2816352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0712" y="859536"/>
            <a:ext cx="2633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 /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9272" y="1207008"/>
            <a:ext cx="2816352" cy="12070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126187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Gemini 2.5 Flash 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0712" y="166420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L2 텍스트 분석 (google-genai ≥ 1.0)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9272" y="2441448"/>
            <a:ext cx="2816352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10712" y="249631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Claude Haiku 4.5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2" y="289864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L3 심층 분석 + 카드뉴스 스크립팅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19272" y="3675888"/>
            <a:ext cx="2816352" cy="12070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10712" y="373075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KNU 감성 사전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10712" y="413308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14,854개 단어 오프라인 폴백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9272" y="4910328"/>
            <a:ext cx="2816352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10712" y="496519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imagehash (pHash)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10712" y="536752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이미지 사칭 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822960"/>
            <a:ext cx="2816352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859536"/>
            <a:ext cx="2633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프론트엔드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2784" y="1207008"/>
            <a:ext cx="2816352" cy="12070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64224" y="126187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Tailwind CSS CDN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166420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빌드 없는 유틸리티 CSS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72784" y="2441448"/>
            <a:ext cx="2816352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249631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Vanilla JS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64224" y="289864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fetch 래퍼 + 공통 API 모듈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3675888"/>
            <a:ext cx="2816352" cy="12070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73075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Syne / Noto Sans KR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4224" y="413308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영문 Display / 한글 본문 폰트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72784" y="4910328"/>
            <a:ext cx="2816352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64224" y="496519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PWA (manifest + SW)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536752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모바일 앱처럼 설치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26296" y="822960"/>
            <a:ext cx="2816352" cy="3840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17736" y="859536"/>
            <a:ext cx="2633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인프라 / 외부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26296" y="1207008"/>
            <a:ext cx="2816352" cy="12070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17736" y="126187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Vercel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17736" y="166420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서버리스 API + 정적 프론트엔드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26296" y="2441448"/>
            <a:ext cx="2816352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17736" y="249631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Railway PostgreSQL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17736" y="289864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운영 DB + Celery 워커 호스팅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26296" y="3675888"/>
            <a:ext cx="2816352" cy="12070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17736" y="373075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Polar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17736" y="413308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구독 결제 + Svix 웹훅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26296" y="4910328"/>
            <a:ext cx="2816352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317736" y="4965192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C1428"/>
                </a:solidFill>
              </a:rPr>
              <a:t>Slack Webhook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17736" y="5367528"/>
            <a:ext cx="26334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위협 등급별 즉각 알림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09  차별화 &amp; 가격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왜 SAYbrand인가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차별화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경쟁 솔루션 대비 SAYbrand의 강점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3749039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3749039" cy="731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73152" cy="246888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9601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3계층 AI 파이프라인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536192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L1($0) → L2(저비용) → L3(고위협만)
AI 비용을 최소화하면서 정확도를 극대화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822960"/>
            <a:ext cx="3749039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822960"/>
            <a:ext cx="3749039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822960"/>
            <a:ext cx="73152" cy="24688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9601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조직적 공격 자동 탐지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536192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6개 지표 가중합으로 봇·조직 공격 vs
실제 소비자 불만을 정량적으로 구분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822960"/>
            <a:ext cx="3749039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822960"/>
            <a:ext cx="3749039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822960"/>
            <a:ext cx="73152" cy="24688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9601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한국 시장 특화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536192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KNU 감성 사전 · 커뮤니티어 · 초성 반어법
한국어 뉘앙스 전문 처리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20440"/>
            <a:ext cx="3749039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520440"/>
            <a:ext cx="3749039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520440"/>
            <a:ext cx="73152" cy="24688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마케팅 위기 12개 카테고리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233672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불매운동 · 캠페인 역풍 · 갑질 폭로 등
브랜드 특화 위기 유형 정밀 분류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520440"/>
            <a:ext cx="3749039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3520440"/>
            <a:ext cx="3749039" cy="7315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3520440"/>
            <a:ext cx="73152" cy="2468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657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즉시 활용 대응 문구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233672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SNS 공식 대응 · 보도자료 · 내부 조치
3가지 구체 문구 AI가 자동 생성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3520440"/>
            <a:ext cx="3749039" cy="24688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0" y="3520440"/>
            <a:ext cx="3749039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3520440"/>
            <a:ext cx="73152" cy="24688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3657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카드뉴스 자동 생성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233672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위협 데이터 → Claude로 스크립팅
→ YouTube Shorts 영상 완전 자동화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가격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Polar 결제 — 체크아웃 링크 방식 + Svix 웹훅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274320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2743200" cy="5943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8686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2344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무료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2743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5087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키워드 5개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67712"/>
            <a:ext cx="2743200" cy="8046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317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조직 1개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090672"/>
            <a:ext cx="2743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546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PDF 다운로드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13632"/>
            <a:ext cx="2743200" cy="8046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7763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기본 모니터링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2" y="822960"/>
            <a:ext cx="274320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3552" y="822960"/>
            <a:ext cx="2743200" cy="59436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8686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12344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유료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3552" y="1444752"/>
            <a:ext cx="2743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15087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키워드 20개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267712"/>
            <a:ext cx="2743200" cy="8046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23317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조직 3개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3552" y="3090672"/>
            <a:ext cx="2743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31546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Slack 알림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3913632"/>
            <a:ext cx="2743200" cy="8046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10712" y="397763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주간 리포트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1344" y="822960"/>
            <a:ext cx="274320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81344" y="822960"/>
            <a:ext cx="2743200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18504" y="8686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12344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유료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1344" y="1444752"/>
            <a:ext cx="2743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15087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키워드 무제한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81344" y="2267712"/>
            <a:ext cx="2743200" cy="8046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8504" y="23317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조직 5개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1344" y="3090672"/>
            <a:ext cx="2743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8504" y="31546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화이트라벨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4" y="3913632"/>
            <a:ext cx="2743200" cy="8046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18504" y="397763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PPT 리포트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89136" y="822960"/>
            <a:ext cx="2743200" cy="5303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89136" y="822960"/>
            <a:ext cx="27432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26296" y="8686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26296" y="12344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문의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89136" y="1444752"/>
            <a:ext cx="2743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26296" y="15087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맞춤 조직 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89136" y="2267712"/>
            <a:ext cx="2743200" cy="8046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26296" y="23317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무제한 모든 기능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89136" y="3090672"/>
            <a:ext cx="27432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31546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전담 지원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89136" y="3913632"/>
            <a:ext cx="2743200" cy="8046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26296" y="397763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✓  SLA 보장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6236208"/>
            <a:ext cx="11457432" cy="36576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결제 플로우:  사용자 → /billing/checkout/{plan} → Polar 체크아웃 → Svix 웹훅 수신 → DB 티어 업데이트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2834640"/>
            <a:ext cx="7315200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10  로드맵 &amp; KPI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BBDD"/>
                </a:solidFill>
              </a:rPr>
              <a:t>성공 지표와 성장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88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현재 구현 상태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기준일: 2026-06-21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85953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8595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코어 AI 파이프라인 (L1→L2→L3)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85953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170432"/>
            <a:ext cx="5742432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20700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2070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리스크 스코어링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20700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517904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1554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Naver 수집기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5544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검증 완료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865376"/>
            <a:ext cx="5742432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1901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901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YouTube · X 수집기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90195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API 키 있을 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212848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24942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22494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Gemini L2 분석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249424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유료 전환 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60320"/>
            <a:ext cx="5742432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25968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5968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Claude Haiku L3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59689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API 키 있을 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907792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294436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2944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KNU 감성 사전 폴백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294436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항상 동작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255264"/>
            <a:ext cx="5742432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32918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조직 관리 (RBAC·초대코드·승인)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32918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02736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36393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36393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온보딩 플로우 (3단계)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363931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822960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45936" y="85953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9984" y="8595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Google OAuth 인증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9024" y="85953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2784" y="1170432"/>
            <a:ext cx="5742432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45936" y="120700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9984" y="12070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Polar 결제·웹훅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79024" y="120700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72784" y="1517904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45936" y="1554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9984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PDF / PPT 보고서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9024" y="15544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72784" y="1865376"/>
            <a:ext cx="5742432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45936" y="1901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9984" y="1901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카드뉴스 파이프라인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79024" y="190195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93 tests passed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72784" y="2212848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45936" y="224942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9984" y="22494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Slack 알림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79024" y="2249424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72784" y="2560320"/>
            <a:ext cx="5742432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45936" y="25968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9984" y="25968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Celery 비동기 워커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79024" y="259689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A580C"/>
                </a:solidFill>
              </a:rPr>
              <a:t>Redis 환경 필요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72784" y="2907792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45936" y="294436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🟡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9984" y="2944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이미지 분석 (pHash)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79024" y="294436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A580C"/>
                </a:solidFill>
              </a:rPr>
              <a:t>엔진 구현, 미통합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72784" y="3255264"/>
            <a:ext cx="5742432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45936" y="32918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9984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Instagram 수집기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79024" y="32918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888888"/>
                </a:solidFill>
              </a:rPr>
              <a:t>v1.1 목표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2784" y="3602736"/>
            <a:ext cx="5742432" cy="338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45936" y="36393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/>
              <a:t>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9984" y="36393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TikTok 수집기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79024" y="363931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888888"/>
                </a:solidFill>
              </a:rPr>
              <a:t>v1.1 목표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로드맵 &amp; 성공 지표 (KPI)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93408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BDD"/>
                </a:solidFill>
              </a:rPr>
              <a:t>SAYbrand  |  AI 기반 브랜드 보호 SaaS  |  2026-06-21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3749039" cy="4754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8595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MVP — 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8595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3개월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98448"/>
            <a:ext cx="3749039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34416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파일럿 고객 5개사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38528"/>
            <a:ext cx="3749039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8424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오탐률 &lt; 10%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78608"/>
            <a:ext cx="3749039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243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핵심 기능 안정화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822960"/>
            <a:ext cx="3749039" cy="47548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8595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8595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6개월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1298448"/>
            <a:ext cx="3749039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34416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MRR 2,000만원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1938528"/>
            <a:ext cx="3749039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98424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Instagram · TikTok 수집기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578608"/>
            <a:ext cx="3749039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26243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이미지 분석 통합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822960"/>
            <a:ext cx="3749039" cy="4754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8595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8595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12개월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298448"/>
            <a:ext cx="3749039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134416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고객사 100개 / NPS 50+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1938528"/>
            <a:ext cx="3749039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198424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HyperCLOVA X 연동 강화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578608"/>
            <a:ext cx="3749039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6243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C1428"/>
                </a:solidFill>
              </a:rPr>
              <a:t>→  화이트라벨 대량 공급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273552"/>
            <a:ext cx="11457432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3192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단계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33192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지표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3192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목표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657600"/>
            <a:ext cx="11457432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72160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MVP (3개월)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72160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파일럿 고객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372160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A6EF8"/>
                </a:solidFill>
              </a:rPr>
              <a:t>5개사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297680"/>
            <a:ext cx="1145743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36168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v1.0 (6개월)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36168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MRR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36168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A6EF8"/>
                </a:solidFill>
              </a:rPr>
              <a:t>2,000만원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937760"/>
            <a:ext cx="11457432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0017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v2.0 (12개월)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00176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고객사 / NPS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00176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A6EF8"/>
                </a:solidFill>
              </a:rPr>
              <a:t>100개 / 50+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577840"/>
            <a:ext cx="11457432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64184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C1428"/>
                </a:solidFill>
              </a:rPr>
              <a:t>정확도 (상시)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564184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오탐률 (False Positive)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56418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A6EF8"/>
                </a:solidFill>
              </a:rPr>
              <a:t>&lt; 10%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BBDD"/>
                </a:solidFill>
              </a:rPr>
              <a:t>SAYbrand — AI 기반 브랜드 보호 SaaS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337560"/>
            <a:ext cx="9875520" cy="4572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서비스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35661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SAYbrand v0.3.1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1605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Vercel (API + Frontend)  +  Railway (Celery Worker)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AI 엔진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754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Gemini 2.5 Flash Lite (L2)  +  Claude Haiku 4.5 (L3)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3492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카드뉴스 파이프라인 93 tests passed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688"/>
                </a:solidFill>
              </a:rPr>
              <a:t>2026-06-21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